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embeddedFontLst>
    <p:embeddedFont>
      <p:font typeface="Fira Code" panose="020B0809050000020004" pitchFamily="49" charset="0"/>
      <p:regular r:id="rId10"/>
      <p:bold r:id="rId11"/>
    </p:embeddedFont>
    <p:embeddedFont>
      <p:font typeface="VT323" pitchFamily="49" charset="77"/>
      <p:regular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65"/>
  </p:normalViewPr>
  <p:slideViewPr>
    <p:cSldViewPr snapToGrid="0">
      <p:cViewPr varScale="1">
        <p:scale>
          <a:sx n="107" d="100"/>
          <a:sy n="107" d="100"/>
        </p:scale>
        <p:origin x="640"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91c23a3b2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g391c23a3b2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72150" y="1524000"/>
            <a:ext cx="647700" cy="571500"/>
          </a:xfrm>
          <a:prstGeom prst="rect">
            <a:avLst/>
          </a:prstGeom>
          <a:noFill/>
          <a:ln>
            <a:noFill/>
          </a:ln>
        </p:spPr>
      </p:pic>
      <p:sp>
        <p:nvSpPr>
          <p:cNvPr id="86" name="Google Shape;86;p13"/>
          <p:cNvSpPr txBox="1"/>
          <p:nvPr/>
        </p:nvSpPr>
        <p:spPr>
          <a:xfrm>
            <a:off x="257175" y="2286000"/>
            <a:ext cx="11677800"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33FF00"/>
                </a:solidFill>
                <a:latin typeface="VT323"/>
                <a:ea typeface="VT323"/>
                <a:cs typeface="VT323"/>
                <a:sym typeface="VT323"/>
              </a:rPr>
              <a:t>JUEGO DE LA</a:t>
            </a:r>
            <a:br>
              <a:rPr lang="en-US" sz="1800" b="0" i="0" u="none" strike="noStrike" cap="none">
                <a:solidFill>
                  <a:schemeClr val="dk1"/>
                </a:solidFill>
                <a:latin typeface="Calibri"/>
                <a:ea typeface="Calibri"/>
                <a:cs typeface="Calibri"/>
                <a:sym typeface="Calibri"/>
              </a:rPr>
            </a:br>
            <a:r>
              <a:rPr lang="en-US" sz="6000" b="1" i="0" u="none" strike="noStrike" cap="none">
                <a:solidFill>
                  <a:srgbClr val="33FF00"/>
                </a:solidFill>
                <a:latin typeface="VT323"/>
                <a:ea typeface="VT323"/>
                <a:cs typeface="VT323"/>
                <a:sym typeface="VT323"/>
              </a:rPr>
              <a:t> SERPIENTE</a:t>
            </a:r>
            <a:endParaRPr/>
          </a:p>
        </p:txBody>
      </p:sp>
      <p:sp>
        <p:nvSpPr>
          <p:cNvPr id="87" name="Google Shape;87;p13"/>
          <p:cNvSpPr txBox="1"/>
          <p:nvPr/>
        </p:nvSpPr>
        <p:spPr>
          <a:xfrm>
            <a:off x="426225" y="4323575"/>
            <a:ext cx="11163300" cy="3462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250">
                <a:solidFill>
                  <a:srgbClr val="CCFFCC"/>
                </a:solidFill>
                <a:latin typeface="VT323"/>
                <a:ea typeface="VT323"/>
                <a:cs typeface="VT323"/>
                <a:sym typeface="VT323"/>
              </a:rPr>
              <a:t>Melanie Asmal </a:t>
            </a:r>
            <a:endParaRPr/>
          </a:p>
        </p:txBody>
      </p:sp>
      <p:sp>
        <p:nvSpPr>
          <p:cNvPr id="88" name="Google Shape;88;p13"/>
          <p:cNvSpPr txBox="1"/>
          <p:nvPr/>
        </p:nvSpPr>
        <p:spPr>
          <a:xfrm>
            <a:off x="514350" y="4876800"/>
            <a:ext cx="11163300" cy="261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700" b="0" i="0" u="none" strike="noStrike" cap="none">
                <a:solidFill>
                  <a:srgbClr val="888888"/>
                </a:solidFill>
                <a:latin typeface="VT323"/>
                <a:ea typeface="VT323"/>
                <a:cs typeface="VT323"/>
                <a:sym typeface="VT323"/>
              </a:rPr>
              <a:t>[ Presione ENTER para comenzar ]</a:t>
            </a:r>
            <a:endParaRPr sz="1600"/>
          </a:p>
        </p:txBody>
      </p:sp>
      <p:sp>
        <p:nvSpPr>
          <p:cNvPr id="89" name="Google Shape;89;p13"/>
          <p:cNvSpPr/>
          <p:nvPr/>
        </p:nvSpPr>
        <p:spPr>
          <a:xfrm>
            <a:off x="2910682"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 name="Google Shape;90;p13"/>
          <p:cNvSpPr/>
          <p:nvPr/>
        </p:nvSpPr>
        <p:spPr>
          <a:xfrm>
            <a:off x="688165"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3"/>
          <p:cNvSpPr/>
          <p:nvPr/>
        </p:nvSpPr>
        <p:spPr>
          <a:xfrm>
            <a:off x="1799421"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p:nvPr/>
        </p:nvSpPr>
        <p:spPr>
          <a:xfrm>
            <a:off x="4137389"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p:nvPr/>
        </p:nvSpPr>
        <p:spPr>
          <a:xfrm>
            <a:off x="-1818530" y="6248400"/>
            <a:ext cx="285750" cy="2857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3"/>
          <p:cNvSpPr/>
          <p:nvPr/>
        </p:nvSpPr>
        <p:spPr>
          <a:xfrm>
            <a:off x="6294389"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3"/>
          <p:cNvSpPr/>
          <p:nvPr/>
        </p:nvSpPr>
        <p:spPr>
          <a:xfrm>
            <a:off x="5133164"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7586614"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3"/>
          <p:cNvSpPr/>
          <p:nvPr/>
        </p:nvSpPr>
        <p:spPr>
          <a:xfrm>
            <a:off x="8801964"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3"/>
          <p:cNvSpPr/>
          <p:nvPr/>
        </p:nvSpPr>
        <p:spPr>
          <a:xfrm>
            <a:off x="9923589" y="6210300"/>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3"/>
          <p:cNvSpPr/>
          <p:nvPr/>
        </p:nvSpPr>
        <p:spPr>
          <a:xfrm>
            <a:off x="11309539" y="6248325"/>
            <a:ext cx="285900" cy="2859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4" descr="Cómo jugar a Snake: dominar un clásico">
            <a:extLst>
              <a:ext uri="{FF2B5EF4-FFF2-40B4-BE49-F238E27FC236}">
                <a16:creationId xmlns:a16="http://schemas.microsoft.com/office/drawing/2014/main" id="{FB269A26-C8DC-8241-C91B-97F48C60A4DF}"/>
              </a:ext>
            </a:extLst>
          </p:cNvPr>
          <p:cNvPicPr>
            <a:picLocks noChangeAspect="1" noChangeArrowheads="1"/>
          </p:cNvPicPr>
          <p:nvPr/>
        </p:nvPicPr>
        <p:blipFill rotWithShape="1">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l="2572" t="3071" r="3524" b="6453"/>
          <a:stretch>
            <a:fillRect/>
          </a:stretch>
        </p:blipFill>
        <p:spPr bwMode="auto">
          <a:xfrm>
            <a:off x="217939" y="164936"/>
            <a:ext cx="11716886" cy="6457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6" name="Google Shape;116;p15"/>
          <p:cNvSpPr txBox="1"/>
          <p:nvPr/>
        </p:nvSpPr>
        <p:spPr>
          <a:xfrm>
            <a:off x="514350" y="893712"/>
            <a:ext cx="116778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117" name="Google Shape;117;p15"/>
          <p:cNvSpPr/>
          <p:nvPr/>
        </p:nvSpPr>
        <p:spPr>
          <a:xfrm>
            <a:off x="514350" y="991812"/>
            <a:ext cx="11163300" cy="192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5"/>
          <p:cNvSpPr/>
          <p:nvPr/>
        </p:nvSpPr>
        <p:spPr>
          <a:xfrm>
            <a:off x="2472779" y="1207212"/>
            <a:ext cx="9137100" cy="4911000"/>
          </a:xfrm>
          <a:prstGeom prst="rect">
            <a:avLst/>
          </a:prstGeom>
          <a:solidFill>
            <a:srgbClr val="001E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 name="Google Shape;119;p15"/>
          <p:cNvSpPr txBox="1"/>
          <p:nvPr/>
        </p:nvSpPr>
        <p:spPr>
          <a:xfrm>
            <a:off x="3083900" y="1997200"/>
            <a:ext cx="7831500" cy="3694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u="none" strike="noStrike" cap="none">
                <a:solidFill>
                  <a:srgbClr val="FFFF00"/>
                </a:solidFill>
                <a:latin typeface="VT323"/>
                <a:ea typeface="VT323"/>
                <a:cs typeface="VT323"/>
                <a:sym typeface="VT323"/>
              </a:rPr>
              <a:t>Snake Game</a:t>
            </a:r>
            <a:r>
              <a:rPr lang="en-US" sz="2400" b="0" i="0" u="none" strike="noStrike" cap="none">
                <a:solidFill>
                  <a:srgbClr val="33FF00"/>
                </a:solidFill>
                <a:latin typeface="VT323"/>
                <a:ea typeface="VT323"/>
                <a:cs typeface="VT323"/>
                <a:sym typeface="VT323"/>
              </a:rPr>
              <a:t> es un programa que ut</a:t>
            </a:r>
            <a:r>
              <a:rPr lang="en-US" sz="2400">
                <a:solidFill>
                  <a:srgbClr val="33FF00"/>
                </a:solidFill>
                <a:latin typeface="VT323"/>
                <a:ea typeface="VT323"/>
                <a:cs typeface="VT323"/>
                <a:sym typeface="VT323"/>
              </a:rPr>
              <a:t>iliza la librería curses para crear una interfaz interactiva. El juego inicia </a:t>
            </a:r>
            <a:r>
              <a:rPr lang="en-US" sz="2400" b="1">
                <a:solidFill>
                  <a:srgbClr val="FFFF00"/>
                </a:solidFill>
                <a:latin typeface="VT323"/>
                <a:ea typeface="VT323"/>
                <a:cs typeface="VT323"/>
                <a:sym typeface="VT323"/>
              </a:rPr>
              <a:t>con una pantalla de inicio que da la bienvenida </a:t>
            </a:r>
            <a:r>
              <a:rPr lang="en-US" sz="2400">
                <a:solidFill>
                  <a:srgbClr val="33FF00"/>
                </a:solidFill>
                <a:latin typeface="VT323"/>
                <a:ea typeface="VT323"/>
                <a:cs typeface="VT323"/>
                <a:sym typeface="VT323"/>
              </a:rPr>
              <a:t>y se puede decidir si se quiere comenzar dando enter, una vez iniciada la partida el jugador controla la serpiente para que se desplace por la ventana con las flechas de la computadora. La serpiente debe comer la comida y va aumentado si longitud y su puntaje. </a:t>
            </a:r>
            <a:endParaRPr/>
          </a:p>
        </p:txBody>
      </p:sp>
      <p:sp>
        <p:nvSpPr>
          <p:cNvPr id="120" name="Google Shape;120;p15"/>
          <p:cNvSpPr/>
          <p:nvPr/>
        </p:nvSpPr>
        <p:spPr>
          <a:xfrm>
            <a:off x="2754496" y="2366069"/>
            <a:ext cx="47700" cy="350520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1" name="Google Shape;121;p15" descr="image.png"/>
          <p:cNvPicPr preferRelativeResize="0"/>
          <p:nvPr/>
        </p:nvPicPr>
        <p:blipFill rotWithShape="1">
          <a:blip r:embed="rId4">
            <a:alphaModFix/>
          </a:blip>
          <a:srcRect/>
          <a:stretch/>
        </p:blipFill>
        <p:spPr>
          <a:xfrm>
            <a:off x="1044029" y="3404294"/>
            <a:ext cx="1428750" cy="1428750"/>
          </a:xfrm>
          <a:prstGeom prst="rect">
            <a:avLst/>
          </a:prstGeom>
          <a:noFill/>
          <a:ln>
            <a:noFill/>
          </a:ln>
        </p:spPr>
      </p:pic>
      <p:pic>
        <p:nvPicPr>
          <p:cNvPr id="2" name="Picture 4" descr="Cómo jugar a Snake: dominar un clásico">
            <a:extLst>
              <a:ext uri="{FF2B5EF4-FFF2-40B4-BE49-F238E27FC236}">
                <a16:creationId xmlns:a16="http://schemas.microsoft.com/office/drawing/2014/main" id="{3CAA23E7-35E9-84A9-EA37-11BAD28C5587}"/>
              </a:ext>
            </a:extLst>
          </p:cNvPr>
          <p:cNvPicPr>
            <a:picLocks noChangeAspect="1" noChangeArrowheads="1"/>
          </p:cNvPicPr>
          <p:nvPr/>
        </p:nvPicPr>
        <p:blipFill rotWithShape="1">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l="2572" t="3071" r="3524" b="6453"/>
          <a:stretch>
            <a:fillRect/>
          </a:stretch>
        </p:blipFill>
        <p:spPr bwMode="auto">
          <a:xfrm>
            <a:off x="348568" y="295564"/>
            <a:ext cx="11716886" cy="6457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7" name="Google Shape;127;p16" descr="image.png"/>
          <p:cNvPicPr preferRelativeResize="0"/>
          <p:nvPr/>
        </p:nvPicPr>
        <p:blipFill rotWithShape="1">
          <a:blip r:embed="rId4">
            <a:alphaModFix/>
          </a:blip>
          <a:srcRect/>
          <a:stretch/>
        </p:blipFill>
        <p:spPr>
          <a:xfrm>
            <a:off x="7364610" y="2756594"/>
            <a:ext cx="4313039" cy="2724150"/>
          </a:xfrm>
          <a:prstGeom prst="rect">
            <a:avLst/>
          </a:prstGeom>
          <a:noFill/>
          <a:ln>
            <a:noFill/>
          </a:ln>
        </p:spPr>
      </p:pic>
      <p:sp>
        <p:nvSpPr>
          <p:cNvPr id="128" name="Google Shape;128;p16"/>
          <p:cNvSpPr txBox="1"/>
          <p:nvPr/>
        </p:nvSpPr>
        <p:spPr>
          <a:xfrm>
            <a:off x="514350" y="893712"/>
            <a:ext cx="116776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3FF00"/>
                </a:solidFill>
                <a:latin typeface="VT323"/>
                <a:ea typeface="VT323"/>
                <a:cs typeface="VT323"/>
                <a:sym typeface="VT323"/>
              </a:rPr>
              <a:t>Interfaz Gráfica (Curses)</a:t>
            </a:r>
            <a:endParaRPr/>
          </a:p>
        </p:txBody>
      </p:sp>
      <p:sp>
        <p:nvSpPr>
          <p:cNvPr id="129" name="Google Shape;129;p16"/>
          <p:cNvSpPr/>
          <p:nvPr/>
        </p:nvSpPr>
        <p:spPr>
          <a:xfrm>
            <a:off x="514350" y="1493787"/>
            <a:ext cx="11163300" cy="190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6"/>
          <p:cNvSpPr txBox="1"/>
          <p:nvPr/>
        </p:nvSpPr>
        <p:spPr>
          <a:xfrm>
            <a:off x="800100" y="2427386"/>
            <a:ext cx="6183510"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FFFFFF"/>
                </a:solidFill>
                <a:latin typeface="VT323"/>
                <a:ea typeface="VT323"/>
                <a:cs typeface="VT323"/>
                <a:sym typeface="VT323"/>
              </a:rPr>
              <a:t>Librería Curses:</a:t>
            </a:r>
            <a:r>
              <a:rPr lang="en-US" sz="1950" b="0" i="0" u="none" strike="noStrike" cap="none">
                <a:solidFill>
                  <a:srgbClr val="CCFFCC"/>
                </a:solidFill>
                <a:latin typeface="VT323"/>
                <a:ea typeface="VT323"/>
                <a:cs typeface="VT323"/>
                <a:sym typeface="VT323"/>
              </a:rPr>
              <a:t> Renderizado en terminal en modo bloqueante para control preciso.</a:t>
            </a:r>
            <a:endParaRPr/>
          </a:p>
        </p:txBody>
      </p:sp>
      <p:sp>
        <p:nvSpPr>
          <p:cNvPr id="131" name="Google Shape;131;p16"/>
          <p:cNvSpPr txBox="1"/>
          <p:nvPr/>
        </p:nvSpPr>
        <p:spPr>
          <a:xfrm>
            <a:off x="800100" y="4194869"/>
            <a:ext cx="6183510"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FFFFFF"/>
                </a:solidFill>
                <a:latin typeface="VT323"/>
                <a:ea typeface="VT323"/>
                <a:cs typeface="VT323"/>
                <a:sym typeface="VT323"/>
              </a:rPr>
              <a:t>Refresco Dinámico:</a:t>
            </a:r>
            <a:r>
              <a:rPr lang="en-US" sz="1950" b="0" i="0" u="none" strike="noStrike" cap="none">
                <a:solidFill>
                  <a:srgbClr val="CCFFCC"/>
                </a:solidFill>
                <a:latin typeface="VT323"/>
                <a:ea typeface="VT323"/>
                <a:cs typeface="VT323"/>
                <a:sym typeface="VT323"/>
              </a:rPr>
              <a:t> Actualización de pantalla sin parpadeos visuales.</a:t>
            </a:r>
            <a:endParaRPr/>
          </a:p>
        </p:txBody>
      </p:sp>
      <p:sp>
        <p:nvSpPr>
          <p:cNvPr id="132" name="Google Shape;132;p16"/>
          <p:cNvSpPr txBox="1"/>
          <p:nvPr/>
        </p:nvSpPr>
        <p:spPr>
          <a:xfrm>
            <a:off x="800100" y="5078610"/>
            <a:ext cx="6183510"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FFFFFF"/>
                </a:solidFill>
                <a:latin typeface="VT323"/>
                <a:ea typeface="VT323"/>
                <a:cs typeface="VT323"/>
                <a:sym typeface="VT323"/>
              </a:rPr>
              <a:t>HUD:</a:t>
            </a:r>
            <a:r>
              <a:rPr lang="en-US" sz="1950" b="0" i="0" u="none" strike="noStrike" cap="none">
                <a:solidFill>
                  <a:srgbClr val="CCFFCC"/>
                </a:solidFill>
                <a:latin typeface="VT323"/>
                <a:ea typeface="VT323"/>
                <a:cs typeface="VT323"/>
                <a:sym typeface="VT323"/>
              </a:rPr>
              <a:t> Visualización permanente del en la parte superior.</a:t>
            </a:r>
            <a:endParaRPr/>
          </a:p>
        </p:txBody>
      </p:sp>
      <p:sp>
        <p:nvSpPr>
          <p:cNvPr id="133" name="Google Shape;133;p16"/>
          <p:cNvSpPr txBox="1"/>
          <p:nvPr/>
        </p:nvSpPr>
        <p:spPr>
          <a:xfrm>
            <a:off x="514350" y="2427386"/>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134" name="Google Shape;134;p16"/>
          <p:cNvSpPr txBox="1"/>
          <p:nvPr/>
        </p:nvSpPr>
        <p:spPr>
          <a:xfrm>
            <a:off x="514350" y="3311128"/>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pic>
        <p:nvPicPr>
          <p:cNvPr id="135" name="Google Shape;135;p16" descr="image.png"/>
          <p:cNvPicPr preferRelativeResize="0"/>
          <p:nvPr/>
        </p:nvPicPr>
        <p:blipFill rotWithShape="1">
          <a:blip r:embed="rId5">
            <a:alphaModFix/>
          </a:blip>
          <a:srcRect/>
          <a:stretch/>
        </p:blipFill>
        <p:spPr>
          <a:xfrm>
            <a:off x="800100" y="3317753"/>
            <a:ext cx="5638800" cy="679995"/>
          </a:xfrm>
          <a:prstGeom prst="rect">
            <a:avLst/>
          </a:prstGeom>
          <a:noFill/>
          <a:ln>
            <a:noFill/>
          </a:ln>
        </p:spPr>
      </p:pic>
      <p:sp>
        <p:nvSpPr>
          <p:cNvPr id="136" name="Google Shape;136;p16"/>
          <p:cNvSpPr txBox="1"/>
          <p:nvPr/>
        </p:nvSpPr>
        <p:spPr>
          <a:xfrm>
            <a:off x="514350" y="4194869"/>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137" name="Google Shape;137;p16"/>
          <p:cNvSpPr txBox="1"/>
          <p:nvPr/>
        </p:nvSpPr>
        <p:spPr>
          <a:xfrm>
            <a:off x="514350" y="5078610"/>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pic>
        <p:nvPicPr>
          <p:cNvPr id="138" name="Google Shape;138;p16" descr="image.png"/>
          <p:cNvPicPr preferRelativeResize="0"/>
          <p:nvPr/>
        </p:nvPicPr>
        <p:blipFill rotWithShape="1">
          <a:blip r:embed="rId6">
            <a:alphaModFix/>
          </a:blip>
          <a:srcRect/>
          <a:stretch/>
        </p:blipFill>
        <p:spPr>
          <a:xfrm>
            <a:off x="4038600" y="5088135"/>
            <a:ext cx="1181100" cy="33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4" name="Google Shape;144;p17" descr="image.png"/>
          <p:cNvPicPr preferRelativeResize="0"/>
          <p:nvPr/>
        </p:nvPicPr>
        <p:blipFill rotWithShape="1">
          <a:blip r:embed="rId4">
            <a:alphaModFix/>
          </a:blip>
          <a:srcRect/>
          <a:stretch/>
        </p:blipFill>
        <p:spPr>
          <a:xfrm>
            <a:off x="514350" y="2147292"/>
            <a:ext cx="5438775" cy="3942903"/>
          </a:xfrm>
          <a:prstGeom prst="rect">
            <a:avLst/>
          </a:prstGeom>
          <a:noFill/>
          <a:ln>
            <a:noFill/>
          </a:ln>
        </p:spPr>
      </p:pic>
      <p:pic>
        <p:nvPicPr>
          <p:cNvPr id="145" name="Google Shape;145;p17" descr="image.png"/>
          <p:cNvPicPr preferRelativeResize="0"/>
          <p:nvPr/>
        </p:nvPicPr>
        <p:blipFill rotWithShape="1">
          <a:blip r:embed="rId5">
            <a:alphaModFix/>
          </a:blip>
          <a:srcRect/>
          <a:stretch/>
        </p:blipFill>
        <p:spPr>
          <a:xfrm>
            <a:off x="6238875" y="2147292"/>
            <a:ext cx="5438775" cy="3942903"/>
          </a:xfrm>
          <a:prstGeom prst="rect">
            <a:avLst/>
          </a:prstGeom>
          <a:noFill/>
          <a:ln>
            <a:noFill/>
          </a:ln>
        </p:spPr>
      </p:pic>
      <p:sp>
        <p:nvSpPr>
          <p:cNvPr id="146" name="Google Shape;146;p17"/>
          <p:cNvSpPr txBox="1"/>
          <p:nvPr/>
        </p:nvSpPr>
        <p:spPr>
          <a:xfrm>
            <a:off x="514350" y="893712"/>
            <a:ext cx="116776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3FF00"/>
                </a:solidFill>
                <a:latin typeface="VT323"/>
                <a:ea typeface="VT323"/>
                <a:cs typeface="VT323"/>
                <a:sym typeface="VT323"/>
              </a:rPr>
              <a:t>Lógica de la Serpiente</a:t>
            </a:r>
            <a:endParaRPr/>
          </a:p>
        </p:txBody>
      </p:sp>
      <p:sp>
        <p:nvSpPr>
          <p:cNvPr id="147" name="Google Shape;147;p17"/>
          <p:cNvSpPr/>
          <p:nvPr/>
        </p:nvSpPr>
        <p:spPr>
          <a:xfrm>
            <a:off x="514350" y="1493787"/>
            <a:ext cx="11163300" cy="190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p:nvPr/>
        </p:nvSpPr>
        <p:spPr>
          <a:xfrm>
            <a:off x="272206" y="6248400"/>
            <a:ext cx="285750" cy="2857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7"/>
          <p:cNvSpPr/>
          <p:nvPr/>
        </p:nvSpPr>
        <p:spPr>
          <a:xfrm>
            <a:off x="-242887" y="6248400"/>
            <a:ext cx="285750" cy="2857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7"/>
          <p:cNvSpPr/>
          <p:nvPr/>
        </p:nvSpPr>
        <p:spPr>
          <a:xfrm>
            <a:off x="-757981" y="6248400"/>
            <a:ext cx="285750" cy="2857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7"/>
          <p:cNvSpPr/>
          <p:nvPr/>
        </p:nvSpPr>
        <p:spPr>
          <a:xfrm>
            <a:off x="714375" y="2652117"/>
            <a:ext cx="2971800" cy="41910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7"/>
          <p:cNvSpPr txBox="1"/>
          <p:nvPr/>
        </p:nvSpPr>
        <p:spPr>
          <a:xfrm>
            <a:off x="1294225" y="2582267"/>
            <a:ext cx="29205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Estructura de Datos</a:t>
            </a:r>
            <a:endParaRPr/>
          </a:p>
        </p:txBody>
      </p:sp>
      <p:sp>
        <p:nvSpPr>
          <p:cNvPr id="153" name="Google Shape;153;p17"/>
          <p:cNvSpPr txBox="1"/>
          <p:nvPr/>
        </p:nvSpPr>
        <p:spPr>
          <a:xfrm>
            <a:off x="714375" y="3414117"/>
            <a:ext cx="5038800" cy="2154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endParaRPr/>
          </a:p>
        </p:txBody>
      </p:sp>
      <p:sp>
        <p:nvSpPr>
          <p:cNvPr id="154" name="Google Shape;154;p17"/>
          <p:cNvSpPr txBox="1"/>
          <p:nvPr/>
        </p:nvSpPr>
        <p:spPr>
          <a:xfrm>
            <a:off x="714388" y="4868983"/>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El índice 0 representa siempre la </a:t>
            </a:r>
            <a:r>
              <a:rPr lang="en-US" sz="1950" b="1" i="0" u="none" strike="noStrike" cap="none">
                <a:solidFill>
                  <a:srgbClr val="FFFFFF"/>
                </a:solidFill>
                <a:latin typeface="VT323"/>
                <a:ea typeface="VT323"/>
                <a:cs typeface="VT323"/>
                <a:sym typeface="VT323"/>
              </a:rPr>
              <a:t>cabeza</a:t>
            </a:r>
            <a:r>
              <a:rPr lang="en-US" sz="1950" b="0" i="0" u="none" strike="noStrike" cap="none">
                <a:solidFill>
                  <a:srgbClr val="CCFFCC"/>
                </a:solidFill>
                <a:latin typeface="VT323"/>
                <a:ea typeface="VT323"/>
                <a:cs typeface="VT323"/>
                <a:sym typeface="VT323"/>
              </a:rPr>
              <a:t>.</a:t>
            </a:r>
            <a:endParaRPr/>
          </a:p>
        </p:txBody>
      </p:sp>
      <p:sp>
        <p:nvSpPr>
          <p:cNvPr id="155" name="Google Shape;155;p17"/>
          <p:cNvSpPr/>
          <p:nvPr/>
        </p:nvSpPr>
        <p:spPr>
          <a:xfrm>
            <a:off x="6438900" y="2652117"/>
            <a:ext cx="3467100" cy="41910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7"/>
          <p:cNvSpPr txBox="1"/>
          <p:nvPr/>
        </p:nvSpPr>
        <p:spPr>
          <a:xfrm>
            <a:off x="7136250" y="2604992"/>
            <a:ext cx="3440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Algoritmo de Movimiento</a:t>
            </a:r>
            <a:endParaRPr/>
          </a:p>
        </p:txBody>
      </p:sp>
      <p:sp>
        <p:nvSpPr>
          <p:cNvPr id="157" name="Google Shape;157;p17"/>
          <p:cNvSpPr txBox="1"/>
          <p:nvPr/>
        </p:nvSpPr>
        <p:spPr>
          <a:xfrm>
            <a:off x="6438900" y="3414117"/>
            <a:ext cx="5038725"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1. Se calcula la nueva coordenada de la cabeza según la dirección.</a:t>
            </a:r>
            <a:endParaRPr/>
          </a:p>
        </p:txBody>
      </p:sp>
      <p:sp>
        <p:nvSpPr>
          <p:cNvPr id="158" name="Google Shape;158;p17"/>
          <p:cNvSpPr txBox="1"/>
          <p:nvPr/>
        </p:nvSpPr>
        <p:spPr>
          <a:xfrm>
            <a:off x="6438900" y="4355008"/>
            <a:ext cx="5038725"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2.</a:t>
            </a:r>
            <a:endParaRPr/>
          </a:p>
        </p:txBody>
      </p:sp>
      <p:sp>
        <p:nvSpPr>
          <p:cNvPr id="159" name="Google Shape;159;p17"/>
          <p:cNvSpPr txBox="1"/>
          <p:nvPr/>
        </p:nvSpPr>
        <p:spPr>
          <a:xfrm>
            <a:off x="6438900" y="4949279"/>
            <a:ext cx="5038725" cy="420115"/>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dirty="0">
                <a:solidFill>
                  <a:srgbClr val="CCFFCC"/>
                </a:solidFill>
                <a:latin typeface="VT323"/>
                <a:ea typeface="VT323"/>
                <a:cs typeface="VT323"/>
                <a:sym typeface="VT323"/>
              </a:rPr>
              <a:t>3. (se </a:t>
            </a:r>
            <a:r>
              <a:rPr lang="en-US" sz="1950" b="0" i="0" u="none" strike="noStrike" cap="none" dirty="0" err="1">
                <a:solidFill>
                  <a:srgbClr val="CCFFCC"/>
                </a:solidFill>
                <a:latin typeface="VT323"/>
                <a:ea typeface="VT323"/>
                <a:cs typeface="VT323"/>
                <a:sym typeface="VT323"/>
              </a:rPr>
              <a:t>elimina</a:t>
            </a:r>
            <a:r>
              <a:rPr lang="en-US" sz="1950" b="0" i="0" u="none" strike="noStrike" cap="none" dirty="0">
                <a:solidFill>
                  <a:srgbClr val="CCFFCC"/>
                </a:solidFill>
                <a:latin typeface="VT323"/>
                <a:ea typeface="VT323"/>
                <a:cs typeface="VT323"/>
                <a:sym typeface="VT323"/>
              </a:rPr>
              <a:t> la c para </a:t>
            </a:r>
            <a:r>
              <a:rPr lang="en-US" sz="1950" b="0" i="0" u="none" strike="noStrike" cap="none" dirty="0" err="1">
                <a:solidFill>
                  <a:srgbClr val="CCFFCC"/>
                </a:solidFill>
                <a:latin typeface="VT323"/>
                <a:ea typeface="VT323"/>
                <a:cs typeface="VT323"/>
                <a:sym typeface="VT323"/>
              </a:rPr>
              <a:t>simular</a:t>
            </a:r>
            <a:r>
              <a:rPr lang="en-US" sz="1950" b="0" i="0" u="none" strike="noStrike" cap="none" dirty="0">
                <a:solidFill>
                  <a:srgbClr val="CCFFCC"/>
                </a:solidFill>
                <a:latin typeface="VT323"/>
                <a:ea typeface="VT323"/>
                <a:cs typeface="VT323"/>
                <a:sym typeface="VT323"/>
              </a:rPr>
              <a:t> </a:t>
            </a:r>
            <a:r>
              <a:rPr lang="en-US" sz="1950" b="0" i="0" u="none" strike="noStrike" cap="none" dirty="0" err="1">
                <a:solidFill>
                  <a:srgbClr val="CCFFCC"/>
                </a:solidFill>
                <a:latin typeface="VT323"/>
                <a:ea typeface="VT323"/>
                <a:cs typeface="VT323"/>
                <a:sym typeface="VT323"/>
              </a:rPr>
              <a:t>movimiento</a:t>
            </a:r>
            <a:r>
              <a:rPr lang="en-US" sz="1950" b="0" i="0" u="none" strike="noStrike" cap="none" dirty="0">
                <a:solidFill>
                  <a:srgbClr val="CCFFCC"/>
                </a:solidFill>
                <a:latin typeface="VT323"/>
                <a:ea typeface="VT323"/>
                <a:cs typeface="VT323"/>
                <a:sym typeface="VT323"/>
              </a:rPr>
              <a:t>).</a:t>
            </a:r>
            <a:endParaRPr dirty="0"/>
          </a:p>
        </p:txBody>
      </p:sp>
      <p:pic>
        <p:nvPicPr>
          <p:cNvPr id="160" name="Google Shape;160;p17" descr="image.png"/>
          <p:cNvPicPr preferRelativeResize="0"/>
          <p:nvPr/>
        </p:nvPicPr>
        <p:blipFill rotWithShape="1">
          <a:blip r:embed="rId6">
            <a:alphaModFix/>
          </a:blip>
          <a:srcRect/>
          <a:stretch/>
        </p:blipFill>
        <p:spPr>
          <a:xfrm>
            <a:off x="809625" y="2699742"/>
            <a:ext cx="304800" cy="304800"/>
          </a:xfrm>
          <a:prstGeom prst="rect">
            <a:avLst/>
          </a:prstGeom>
          <a:noFill/>
          <a:ln>
            <a:noFill/>
          </a:ln>
        </p:spPr>
      </p:pic>
      <p:pic>
        <p:nvPicPr>
          <p:cNvPr id="161" name="Google Shape;161;p17" descr="image.png"/>
          <p:cNvPicPr preferRelativeResize="0"/>
          <p:nvPr/>
        </p:nvPicPr>
        <p:blipFill rotWithShape="1">
          <a:blip r:embed="rId7">
            <a:alphaModFix/>
          </a:blip>
          <a:srcRect/>
          <a:stretch/>
        </p:blipFill>
        <p:spPr>
          <a:xfrm>
            <a:off x="714363" y="3849517"/>
            <a:ext cx="4876800" cy="679995"/>
          </a:xfrm>
          <a:prstGeom prst="rect">
            <a:avLst/>
          </a:prstGeom>
          <a:noFill/>
          <a:ln>
            <a:noFill/>
          </a:ln>
        </p:spPr>
      </p:pic>
      <p:pic>
        <p:nvPicPr>
          <p:cNvPr id="162" name="Google Shape;162;p17" descr="image.png"/>
          <p:cNvPicPr preferRelativeResize="0"/>
          <p:nvPr/>
        </p:nvPicPr>
        <p:blipFill rotWithShape="1">
          <a:blip r:embed="rId8">
            <a:alphaModFix/>
          </a:blip>
          <a:srcRect/>
          <a:stretch/>
        </p:blipFill>
        <p:spPr>
          <a:xfrm>
            <a:off x="6534150" y="2699742"/>
            <a:ext cx="304800" cy="304800"/>
          </a:xfrm>
          <a:prstGeom prst="rect">
            <a:avLst/>
          </a:prstGeom>
          <a:noFill/>
          <a:ln>
            <a:noFill/>
          </a:ln>
        </p:spPr>
      </p:pic>
      <p:pic>
        <p:nvPicPr>
          <p:cNvPr id="163" name="Google Shape;163;p17" descr="image.png"/>
          <p:cNvPicPr preferRelativeResize="0"/>
          <p:nvPr/>
        </p:nvPicPr>
        <p:blipFill rotWithShape="1">
          <a:blip r:embed="rId9">
            <a:alphaModFix/>
          </a:blip>
          <a:srcRect/>
          <a:stretch/>
        </p:blipFill>
        <p:spPr>
          <a:xfrm>
            <a:off x="6724650" y="4364533"/>
            <a:ext cx="3981450" cy="333375"/>
          </a:xfrm>
          <a:prstGeom prst="rect">
            <a:avLst/>
          </a:prstGeom>
          <a:noFill/>
          <a:ln>
            <a:noFill/>
          </a:ln>
        </p:spPr>
      </p:pic>
      <p:pic>
        <p:nvPicPr>
          <p:cNvPr id="164" name="Google Shape;164;p17" descr="image.png"/>
          <p:cNvPicPr preferRelativeResize="0"/>
          <p:nvPr/>
        </p:nvPicPr>
        <p:blipFill rotWithShape="1">
          <a:blip r:embed="rId10">
            <a:alphaModFix/>
          </a:blip>
          <a:srcRect/>
          <a:stretch/>
        </p:blipFill>
        <p:spPr>
          <a:xfrm>
            <a:off x="6724650" y="4958804"/>
            <a:ext cx="1581150" cy="33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0" name="Google Shape;170;p18"/>
          <p:cNvSpPr txBox="1"/>
          <p:nvPr/>
        </p:nvSpPr>
        <p:spPr>
          <a:xfrm>
            <a:off x="514350" y="533846"/>
            <a:ext cx="116776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3FF00"/>
                </a:solidFill>
                <a:latin typeface="VT323"/>
                <a:ea typeface="VT323"/>
                <a:cs typeface="VT323"/>
                <a:sym typeface="VT323"/>
              </a:rPr>
              <a:t>Interacción y Objetivos</a:t>
            </a:r>
            <a:endParaRPr/>
          </a:p>
        </p:txBody>
      </p:sp>
      <p:sp>
        <p:nvSpPr>
          <p:cNvPr id="171" name="Google Shape;171;p18"/>
          <p:cNvSpPr/>
          <p:nvPr/>
        </p:nvSpPr>
        <p:spPr>
          <a:xfrm>
            <a:off x="514350" y="1133921"/>
            <a:ext cx="11163300" cy="190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8"/>
          <p:cNvSpPr/>
          <p:nvPr/>
        </p:nvSpPr>
        <p:spPr>
          <a:xfrm>
            <a:off x="514350" y="1838771"/>
            <a:ext cx="2667000" cy="40005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8"/>
          <p:cNvSpPr txBox="1"/>
          <p:nvPr/>
        </p:nvSpPr>
        <p:spPr>
          <a:xfrm>
            <a:off x="609600" y="1595884"/>
            <a:ext cx="26004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Generación de Comida</a:t>
            </a:r>
            <a:endParaRPr/>
          </a:p>
        </p:txBody>
      </p:sp>
      <p:sp>
        <p:nvSpPr>
          <p:cNvPr id="174" name="Google Shape;174;p18"/>
          <p:cNvSpPr/>
          <p:nvPr/>
        </p:nvSpPr>
        <p:spPr>
          <a:xfrm>
            <a:off x="514350" y="4634954"/>
            <a:ext cx="2295525" cy="40005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8"/>
          <p:cNvSpPr txBox="1"/>
          <p:nvPr/>
        </p:nvSpPr>
        <p:spPr>
          <a:xfrm>
            <a:off x="556975" y="4440729"/>
            <a:ext cx="22104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Sistema de Puntos</a:t>
            </a:r>
            <a:endParaRPr/>
          </a:p>
        </p:txBody>
      </p:sp>
      <p:pic>
        <p:nvPicPr>
          <p:cNvPr id="176" name="Google Shape;176;p18" descr="image.png"/>
          <p:cNvPicPr preferRelativeResize="0"/>
          <p:nvPr/>
        </p:nvPicPr>
        <p:blipFill rotWithShape="1">
          <a:blip r:embed="rId4">
            <a:alphaModFix/>
          </a:blip>
          <a:srcRect/>
          <a:stretch/>
        </p:blipFill>
        <p:spPr>
          <a:xfrm>
            <a:off x="8982967" y="2326332"/>
            <a:ext cx="1076325" cy="952500"/>
          </a:xfrm>
          <a:prstGeom prst="rect">
            <a:avLst/>
          </a:prstGeom>
          <a:noFill/>
          <a:ln>
            <a:noFill/>
          </a:ln>
        </p:spPr>
      </p:pic>
      <p:sp>
        <p:nvSpPr>
          <p:cNvPr id="177" name="Google Shape;177;p18"/>
          <p:cNvSpPr txBox="1"/>
          <p:nvPr/>
        </p:nvSpPr>
        <p:spPr>
          <a:xfrm>
            <a:off x="7364610" y="3716982"/>
            <a:ext cx="4313039" cy="346620"/>
          </a:xfrm>
          <a:prstGeom prst="rect">
            <a:avLst/>
          </a:prstGeom>
          <a:noFill/>
          <a:ln>
            <a:noFill/>
          </a:ln>
        </p:spPr>
        <p:txBody>
          <a:bodyPr spcFirstLastPara="1" wrap="square" lIns="0" tIns="0" rIns="0" bIns="0" anchor="t" anchorCtr="0">
            <a:spAutoFit/>
          </a:bodyPr>
          <a:lstStyle/>
          <a:p>
            <a:pPr marL="0" marR="0" lvl="0" indent="0" algn="ctr"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Control con Flechas</a:t>
            </a:r>
            <a:endParaRPr/>
          </a:p>
        </p:txBody>
      </p:sp>
      <p:sp>
        <p:nvSpPr>
          <p:cNvPr id="178" name="Google Shape;178;p18"/>
          <p:cNvSpPr txBox="1"/>
          <p:nvPr/>
        </p:nvSpPr>
        <p:spPr>
          <a:xfrm>
            <a:off x="7364610" y="5499794"/>
            <a:ext cx="4313039" cy="239910"/>
          </a:xfrm>
          <a:prstGeom prst="rect">
            <a:avLst/>
          </a:prstGeom>
          <a:noFill/>
          <a:ln>
            <a:noFill/>
          </a:ln>
        </p:spPr>
        <p:txBody>
          <a:bodyPr spcFirstLastPara="1" wrap="square" lIns="0" tIns="0" rIns="0" bIns="0" anchor="t" anchorCtr="0">
            <a:spAutoFit/>
          </a:bodyPr>
          <a:lstStyle/>
          <a:p>
            <a:pPr marL="0" marR="0" lvl="0" indent="0" algn="ctr" rtl="0">
              <a:lnSpc>
                <a:spcPct val="139925"/>
              </a:lnSpc>
              <a:spcBef>
                <a:spcPts val="0"/>
              </a:spcBef>
              <a:spcAft>
                <a:spcPts val="0"/>
              </a:spcAft>
              <a:buNone/>
            </a:pPr>
            <a:r>
              <a:rPr lang="en-US" sz="1350" b="0" i="0" u="none" strike="noStrike" cap="none">
                <a:solidFill>
                  <a:srgbClr val="888888"/>
                </a:solidFill>
                <a:latin typeface="VT323"/>
                <a:ea typeface="VT323"/>
                <a:cs typeface="VT323"/>
                <a:sym typeface="VT323"/>
              </a:rPr>
              <a:t>Validación para evitar giros de 180° inmediatos</a:t>
            </a:r>
            <a:endParaRPr/>
          </a:p>
        </p:txBody>
      </p:sp>
      <p:sp>
        <p:nvSpPr>
          <p:cNvPr id="179" name="Google Shape;179;p18"/>
          <p:cNvSpPr txBox="1"/>
          <p:nvPr/>
        </p:nvSpPr>
        <p:spPr>
          <a:xfrm>
            <a:off x="800100" y="2486471"/>
            <a:ext cx="618351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Representada por el carácter .</a:t>
            </a:r>
            <a:endParaRPr/>
          </a:p>
        </p:txBody>
      </p:sp>
      <p:sp>
        <p:nvSpPr>
          <p:cNvPr id="180" name="Google Shape;180;p18"/>
          <p:cNvSpPr txBox="1"/>
          <p:nvPr/>
        </p:nvSpPr>
        <p:spPr>
          <a:xfrm>
            <a:off x="800100" y="3023592"/>
            <a:ext cx="618351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Posición aleatoria usando .</a:t>
            </a:r>
            <a:endParaRPr/>
          </a:p>
        </p:txBody>
      </p:sp>
      <p:sp>
        <p:nvSpPr>
          <p:cNvPr id="181" name="Google Shape;181;p18"/>
          <p:cNvSpPr txBox="1"/>
          <p:nvPr/>
        </p:nvSpPr>
        <p:spPr>
          <a:xfrm>
            <a:off x="800100" y="3560712"/>
            <a:ext cx="6183510"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Validación para asegurar que no aparezca sobre el cuerpo de la serpiente.</a:t>
            </a:r>
            <a:endParaRPr/>
          </a:p>
        </p:txBody>
      </p:sp>
      <p:sp>
        <p:nvSpPr>
          <p:cNvPr id="182" name="Google Shape;182;p18"/>
          <p:cNvSpPr txBox="1"/>
          <p:nvPr/>
        </p:nvSpPr>
        <p:spPr>
          <a:xfrm>
            <a:off x="800100" y="5282654"/>
            <a:ext cx="618351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Al coincidir cabeza con comida: </a:t>
            </a:r>
            <a:r>
              <a:rPr lang="en-US" sz="1950" b="1" i="0" u="none" strike="noStrike" cap="none">
                <a:solidFill>
                  <a:srgbClr val="FFFFFF"/>
                </a:solidFill>
                <a:latin typeface="VT323"/>
                <a:ea typeface="VT323"/>
                <a:cs typeface="VT323"/>
                <a:sym typeface="VT323"/>
              </a:rPr>
              <a:t>Score + 1</a:t>
            </a:r>
            <a:r>
              <a:rPr lang="en-US" sz="1950" b="0" i="0" u="none" strike="noStrike" cap="none">
                <a:solidFill>
                  <a:srgbClr val="CCFFCC"/>
                </a:solidFill>
                <a:latin typeface="VT323"/>
                <a:ea typeface="VT323"/>
                <a:cs typeface="VT323"/>
                <a:sym typeface="VT323"/>
              </a:rPr>
              <a:t>.</a:t>
            </a:r>
            <a:endParaRPr/>
          </a:p>
        </p:txBody>
      </p:sp>
      <p:sp>
        <p:nvSpPr>
          <p:cNvPr id="183" name="Google Shape;183;p18"/>
          <p:cNvSpPr txBox="1"/>
          <p:nvPr/>
        </p:nvSpPr>
        <p:spPr>
          <a:xfrm>
            <a:off x="800100" y="5819775"/>
            <a:ext cx="6183510" cy="693241"/>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FFFFFF"/>
                </a:solidFill>
                <a:latin typeface="VT323"/>
                <a:ea typeface="VT323"/>
                <a:cs typeface="VT323"/>
                <a:sym typeface="VT323"/>
              </a:rPr>
              <a:t>Importante:</a:t>
            </a:r>
            <a:r>
              <a:rPr lang="en-US" sz="1950" b="0" i="0" u="none" strike="noStrike" cap="none">
                <a:solidFill>
                  <a:srgbClr val="CCFFCC"/>
                </a:solidFill>
                <a:latin typeface="VT323"/>
                <a:ea typeface="VT323"/>
                <a:cs typeface="VT323"/>
                <a:sym typeface="VT323"/>
              </a:rPr>
              <a:t> Al comer, NO se elimina la cola en ese turno, provocando el crecimiento.</a:t>
            </a:r>
            <a:endParaRPr/>
          </a:p>
        </p:txBody>
      </p:sp>
      <p:pic>
        <p:nvPicPr>
          <p:cNvPr id="184" name="Google Shape;184;p18" descr="image.png"/>
          <p:cNvPicPr preferRelativeResize="0"/>
          <p:nvPr/>
        </p:nvPicPr>
        <p:blipFill rotWithShape="1">
          <a:blip r:embed="rId5">
            <a:alphaModFix/>
          </a:blip>
          <a:srcRect/>
          <a:stretch/>
        </p:blipFill>
        <p:spPr>
          <a:xfrm>
            <a:off x="8425755" y="4320778"/>
            <a:ext cx="914400" cy="333375"/>
          </a:xfrm>
          <a:prstGeom prst="rect">
            <a:avLst/>
          </a:prstGeom>
          <a:noFill/>
          <a:ln>
            <a:noFill/>
          </a:ln>
        </p:spPr>
      </p:pic>
      <p:pic>
        <p:nvPicPr>
          <p:cNvPr id="185" name="Google Shape;185;p18" descr="image.png"/>
          <p:cNvPicPr preferRelativeResize="0"/>
          <p:nvPr/>
        </p:nvPicPr>
        <p:blipFill rotWithShape="1">
          <a:blip r:embed="rId6">
            <a:alphaModFix/>
          </a:blip>
          <a:srcRect/>
          <a:stretch/>
        </p:blipFill>
        <p:spPr>
          <a:xfrm>
            <a:off x="9435405" y="4320778"/>
            <a:ext cx="1181100" cy="333375"/>
          </a:xfrm>
          <a:prstGeom prst="rect">
            <a:avLst/>
          </a:prstGeom>
          <a:noFill/>
          <a:ln>
            <a:noFill/>
          </a:ln>
        </p:spPr>
      </p:pic>
      <p:pic>
        <p:nvPicPr>
          <p:cNvPr id="186" name="Google Shape;186;p18" descr="image.png"/>
          <p:cNvPicPr preferRelativeResize="0"/>
          <p:nvPr/>
        </p:nvPicPr>
        <p:blipFill rotWithShape="1">
          <a:blip r:embed="rId7">
            <a:alphaModFix/>
          </a:blip>
          <a:srcRect/>
          <a:stretch/>
        </p:blipFill>
        <p:spPr>
          <a:xfrm>
            <a:off x="8225730" y="4915048"/>
            <a:ext cx="1181100" cy="333375"/>
          </a:xfrm>
          <a:prstGeom prst="rect">
            <a:avLst/>
          </a:prstGeom>
          <a:noFill/>
          <a:ln>
            <a:noFill/>
          </a:ln>
        </p:spPr>
      </p:pic>
      <p:pic>
        <p:nvPicPr>
          <p:cNvPr id="187" name="Google Shape;187;p18" descr="image.png"/>
          <p:cNvPicPr preferRelativeResize="0"/>
          <p:nvPr/>
        </p:nvPicPr>
        <p:blipFill rotWithShape="1">
          <a:blip r:embed="rId8">
            <a:alphaModFix/>
          </a:blip>
          <a:srcRect/>
          <a:stretch/>
        </p:blipFill>
        <p:spPr>
          <a:xfrm>
            <a:off x="9502080" y="4915048"/>
            <a:ext cx="1314450" cy="333375"/>
          </a:xfrm>
          <a:prstGeom prst="rect">
            <a:avLst/>
          </a:prstGeom>
          <a:noFill/>
          <a:ln>
            <a:noFill/>
          </a:ln>
        </p:spPr>
      </p:pic>
      <p:sp>
        <p:nvSpPr>
          <p:cNvPr id="188" name="Google Shape;188;p18"/>
          <p:cNvSpPr txBox="1"/>
          <p:nvPr/>
        </p:nvSpPr>
        <p:spPr>
          <a:xfrm>
            <a:off x="514350" y="2486471"/>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pic>
        <p:nvPicPr>
          <p:cNvPr id="189" name="Google Shape;189;p18" descr="image.png"/>
          <p:cNvPicPr preferRelativeResize="0"/>
          <p:nvPr/>
        </p:nvPicPr>
        <p:blipFill rotWithShape="1">
          <a:blip r:embed="rId9">
            <a:alphaModFix/>
          </a:blip>
          <a:srcRect/>
          <a:stretch/>
        </p:blipFill>
        <p:spPr>
          <a:xfrm>
            <a:off x="3562350" y="2495996"/>
            <a:ext cx="247650" cy="333375"/>
          </a:xfrm>
          <a:prstGeom prst="rect">
            <a:avLst/>
          </a:prstGeom>
          <a:noFill/>
          <a:ln>
            <a:noFill/>
          </a:ln>
        </p:spPr>
      </p:pic>
      <p:sp>
        <p:nvSpPr>
          <p:cNvPr id="190" name="Google Shape;190;p18"/>
          <p:cNvSpPr txBox="1"/>
          <p:nvPr/>
        </p:nvSpPr>
        <p:spPr>
          <a:xfrm>
            <a:off x="514350" y="3023592"/>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pic>
        <p:nvPicPr>
          <p:cNvPr id="191" name="Google Shape;191;p18" descr="image.png"/>
          <p:cNvPicPr preferRelativeResize="0"/>
          <p:nvPr/>
        </p:nvPicPr>
        <p:blipFill rotWithShape="1">
          <a:blip r:embed="rId10">
            <a:alphaModFix/>
          </a:blip>
          <a:srcRect/>
          <a:stretch/>
        </p:blipFill>
        <p:spPr>
          <a:xfrm>
            <a:off x="3276600" y="3033117"/>
            <a:ext cx="1047750" cy="333375"/>
          </a:xfrm>
          <a:prstGeom prst="rect">
            <a:avLst/>
          </a:prstGeom>
          <a:noFill/>
          <a:ln>
            <a:noFill/>
          </a:ln>
        </p:spPr>
      </p:pic>
      <p:sp>
        <p:nvSpPr>
          <p:cNvPr id="192" name="Google Shape;192;p18"/>
          <p:cNvSpPr txBox="1"/>
          <p:nvPr/>
        </p:nvSpPr>
        <p:spPr>
          <a:xfrm>
            <a:off x="514350" y="3560712"/>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193" name="Google Shape;193;p18"/>
          <p:cNvSpPr txBox="1"/>
          <p:nvPr/>
        </p:nvSpPr>
        <p:spPr>
          <a:xfrm>
            <a:off x="514350" y="5282654"/>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194" name="Google Shape;194;p18"/>
          <p:cNvSpPr txBox="1"/>
          <p:nvPr/>
        </p:nvSpPr>
        <p:spPr>
          <a:xfrm>
            <a:off x="514350" y="5819775"/>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3" name="CuadroTexto 2">
            <a:extLst>
              <a:ext uri="{FF2B5EF4-FFF2-40B4-BE49-F238E27FC236}">
                <a16:creationId xmlns:a16="http://schemas.microsoft.com/office/drawing/2014/main" id="{49C221BF-11FE-F1C9-AC41-0B305D221D76}"/>
              </a:ext>
            </a:extLst>
          </p:cNvPr>
          <p:cNvSpPr txBox="1"/>
          <p:nvPr/>
        </p:nvSpPr>
        <p:spPr>
          <a:xfrm>
            <a:off x="4518527" y="3041922"/>
            <a:ext cx="6097978" cy="332014"/>
          </a:xfrm>
          <a:prstGeom prst="rect">
            <a:avLst/>
          </a:prstGeom>
          <a:noFill/>
        </p:spPr>
        <p:txBody>
          <a:bodyPr wrap="square">
            <a:spAutoFit/>
          </a:bodyPr>
          <a:lstStyle/>
          <a:p>
            <a:pPr>
              <a:lnSpc>
                <a:spcPct val="115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C" sz="1400" b="1" kern="0" dirty="0">
                <a:solidFill>
                  <a:schemeClr val="bg1"/>
                </a:solidFill>
                <a:effectLst/>
                <a:latin typeface="Courier New" panose="02070309020205020404" pitchFamily="49" charset="0"/>
                <a:ea typeface="Times New Roman" panose="02020603050405020304" pitchFamily="18" charset="0"/>
                <a:cs typeface="Times New Roman" panose="02020603050405020304" pitchFamily="18" charset="0"/>
              </a:rPr>
              <a:t>food = (randint(1, 28), randint(1, 88))</a:t>
            </a:r>
            <a:endParaRPr lang="es-EC" sz="20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0" name="Google Shape;200;p19" descr="image.png"/>
          <p:cNvPicPr preferRelativeResize="0"/>
          <p:nvPr/>
        </p:nvPicPr>
        <p:blipFill rotWithShape="1">
          <a:blip r:embed="rId4">
            <a:alphaModFix/>
          </a:blip>
          <a:srcRect/>
          <a:stretch/>
        </p:blipFill>
        <p:spPr>
          <a:xfrm>
            <a:off x="314325" y="825400"/>
            <a:ext cx="11163299" cy="2462800"/>
          </a:xfrm>
          <a:prstGeom prst="rect">
            <a:avLst/>
          </a:prstGeom>
          <a:noFill/>
          <a:ln>
            <a:noFill/>
          </a:ln>
        </p:spPr>
      </p:pic>
      <p:pic>
        <p:nvPicPr>
          <p:cNvPr id="201" name="Google Shape;201;p19" descr="image.png"/>
          <p:cNvPicPr preferRelativeResize="0"/>
          <p:nvPr/>
        </p:nvPicPr>
        <p:blipFill rotWithShape="1">
          <a:blip r:embed="rId5">
            <a:alphaModFix/>
          </a:blip>
          <a:srcRect/>
          <a:stretch/>
        </p:blipFill>
        <p:spPr>
          <a:xfrm>
            <a:off x="314324" y="3478675"/>
            <a:ext cx="5515700" cy="3157175"/>
          </a:xfrm>
          <a:prstGeom prst="rect">
            <a:avLst/>
          </a:prstGeom>
          <a:noFill/>
          <a:ln>
            <a:noFill/>
          </a:ln>
        </p:spPr>
      </p:pic>
      <p:pic>
        <p:nvPicPr>
          <p:cNvPr id="202" name="Google Shape;202;p19" descr="image.png"/>
          <p:cNvPicPr preferRelativeResize="0"/>
          <p:nvPr/>
        </p:nvPicPr>
        <p:blipFill rotWithShape="1">
          <a:blip r:embed="rId6">
            <a:alphaModFix/>
          </a:blip>
          <a:srcRect/>
          <a:stretch/>
        </p:blipFill>
        <p:spPr>
          <a:xfrm>
            <a:off x="6438887" y="3438736"/>
            <a:ext cx="4720944" cy="3320075"/>
          </a:xfrm>
          <a:prstGeom prst="rect">
            <a:avLst/>
          </a:prstGeom>
          <a:noFill/>
          <a:ln>
            <a:noFill/>
          </a:ln>
        </p:spPr>
      </p:pic>
      <p:sp>
        <p:nvSpPr>
          <p:cNvPr id="203" name="Google Shape;203;p19"/>
          <p:cNvSpPr txBox="1"/>
          <p:nvPr/>
        </p:nvSpPr>
        <p:spPr>
          <a:xfrm>
            <a:off x="495225" y="151197"/>
            <a:ext cx="11677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33FF00"/>
                </a:solidFill>
                <a:latin typeface="VT323"/>
                <a:ea typeface="VT323"/>
                <a:cs typeface="VT323"/>
                <a:sym typeface="VT323"/>
              </a:rPr>
              <a:t>Reglas de Derrota &amp; Flujo</a:t>
            </a:r>
            <a:endParaRPr/>
          </a:p>
        </p:txBody>
      </p:sp>
      <p:sp>
        <p:nvSpPr>
          <p:cNvPr id="204" name="Google Shape;204;p19"/>
          <p:cNvSpPr/>
          <p:nvPr/>
        </p:nvSpPr>
        <p:spPr>
          <a:xfrm>
            <a:off x="514350" y="143321"/>
            <a:ext cx="11163300" cy="19050"/>
          </a:xfrm>
          <a:prstGeom prst="rect">
            <a:avLst/>
          </a:prstGeom>
          <a:solidFill>
            <a:srgbClr val="33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19"/>
          <p:cNvSpPr/>
          <p:nvPr/>
        </p:nvSpPr>
        <p:spPr>
          <a:xfrm>
            <a:off x="714375" y="1048196"/>
            <a:ext cx="3343275" cy="41910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19"/>
          <p:cNvSpPr txBox="1"/>
          <p:nvPr/>
        </p:nvSpPr>
        <p:spPr>
          <a:xfrm>
            <a:off x="809625" y="1095821"/>
            <a:ext cx="331041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Condiciones de Derrota</a:t>
            </a:r>
            <a:endParaRPr/>
          </a:p>
        </p:txBody>
      </p:sp>
      <p:sp>
        <p:nvSpPr>
          <p:cNvPr id="207" name="Google Shape;207;p19"/>
          <p:cNvSpPr txBox="1"/>
          <p:nvPr/>
        </p:nvSpPr>
        <p:spPr>
          <a:xfrm>
            <a:off x="714375" y="1810196"/>
            <a:ext cx="1076325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El estado se activa si:</a:t>
            </a:r>
            <a:endParaRPr/>
          </a:p>
        </p:txBody>
      </p:sp>
      <p:pic>
        <p:nvPicPr>
          <p:cNvPr id="208" name="Google Shape;208;p19" descr="image.png"/>
          <p:cNvPicPr preferRelativeResize="0"/>
          <p:nvPr/>
        </p:nvPicPr>
        <p:blipFill rotWithShape="1">
          <a:blip r:embed="rId7">
            <a:alphaModFix/>
          </a:blip>
          <a:srcRect/>
          <a:stretch/>
        </p:blipFill>
        <p:spPr>
          <a:xfrm>
            <a:off x="514350" y="1105346"/>
            <a:ext cx="304800" cy="304800"/>
          </a:xfrm>
          <a:prstGeom prst="rect">
            <a:avLst/>
          </a:prstGeom>
          <a:noFill/>
          <a:ln>
            <a:noFill/>
          </a:ln>
        </p:spPr>
      </p:pic>
      <p:pic>
        <p:nvPicPr>
          <p:cNvPr id="209" name="Google Shape;209;p19" descr="image.png"/>
          <p:cNvPicPr preferRelativeResize="0"/>
          <p:nvPr/>
        </p:nvPicPr>
        <p:blipFill rotWithShape="1">
          <a:blip r:embed="rId8">
            <a:alphaModFix/>
          </a:blip>
          <a:srcRect/>
          <a:stretch/>
        </p:blipFill>
        <p:spPr>
          <a:xfrm>
            <a:off x="1666875" y="1819721"/>
            <a:ext cx="1847850" cy="333375"/>
          </a:xfrm>
          <a:prstGeom prst="rect">
            <a:avLst/>
          </a:prstGeom>
          <a:noFill/>
          <a:ln>
            <a:noFill/>
          </a:ln>
        </p:spPr>
      </p:pic>
      <p:sp>
        <p:nvSpPr>
          <p:cNvPr id="210" name="Google Shape;210;p19"/>
          <p:cNvSpPr txBox="1"/>
          <p:nvPr/>
        </p:nvSpPr>
        <p:spPr>
          <a:xfrm>
            <a:off x="1190625" y="2404467"/>
            <a:ext cx="1028700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La cabeza toca los bordes (y=0, y=29, x=0, x=89).</a:t>
            </a:r>
            <a:endParaRPr/>
          </a:p>
        </p:txBody>
      </p:sp>
      <p:sp>
        <p:nvSpPr>
          <p:cNvPr id="211" name="Google Shape;211;p19"/>
          <p:cNvSpPr txBox="1"/>
          <p:nvPr/>
        </p:nvSpPr>
        <p:spPr>
          <a:xfrm>
            <a:off x="1190625" y="2941587"/>
            <a:ext cx="1028700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La cabeza existe dentro de la lista del cuerpo (Auto-colisión).</a:t>
            </a:r>
            <a:endParaRPr/>
          </a:p>
        </p:txBody>
      </p:sp>
      <p:sp>
        <p:nvSpPr>
          <p:cNvPr id="212" name="Google Shape;212;p19"/>
          <p:cNvSpPr/>
          <p:nvPr/>
        </p:nvSpPr>
        <p:spPr>
          <a:xfrm>
            <a:off x="455700" y="3734021"/>
            <a:ext cx="2419500" cy="400200"/>
          </a:xfrm>
          <a:prstGeom prst="rect">
            <a:avLst/>
          </a:prstGeom>
          <a:solidFill>
            <a:srgbClr val="33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19"/>
          <p:cNvSpPr txBox="1"/>
          <p:nvPr/>
        </p:nvSpPr>
        <p:spPr>
          <a:xfrm>
            <a:off x="495225" y="3531108"/>
            <a:ext cx="23403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F3333"/>
                </a:solidFill>
                <a:latin typeface="VT323"/>
                <a:ea typeface="VT323"/>
                <a:cs typeface="VT323"/>
                <a:sym typeface="VT323"/>
              </a:rPr>
              <a:t>PANTALLA GAME OVER</a:t>
            </a:r>
            <a:endParaRPr/>
          </a:p>
        </p:txBody>
      </p:sp>
      <p:sp>
        <p:nvSpPr>
          <p:cNvPr id="214" name="Google Shape;214;p19"/>
          <p:cNvSpPr txBox="1"/>
          <p:nvPr/>
        </p:nvSpPr>
        <p:spPr>
          <a:xfrm>
            <a:off x="495225" y="4526471"/>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Muestra puntaje final.</a:t>
            </a:r>
            <a:endParaRPr/>
          </a:p>
        </p:txBody>
      </p:sp>
      <p:sp>
        <p:nvSpPr>
          <p:cNvPr id="215" name="Google Shape;215;p19"/>
          <p:cNvSpPr txBox="1"/>
          <p:nvPr/>
        </p:nvSpPr>
        <p:spPr>
          <a:xfrm>
            <a:off x="1163225" y="5117179"/>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 Reinicia el bucle principal (nueva partida).</a:t>
            </a:r>
            <a:endParaRPr/>
          </a:p>
        </p:txBody>
      </p:sp>
      <p:sp>
        <p:nvSpPr>
          <p:cNvPr id="216" name="Google Shape;216;p19"/>
          <p:cNvSpPr txBox="1"/>
          <p:nvPr/>
        </p:nvSpPr>
        <p:spPr>
          <a:xfrm>
            <a:off x="923925" y="5811808"/>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 Sale definitivamente.</a:t>
            </a:r>
            <a:endParaRPr/>
          </a:p>
        </p:txBody>
      </p:sp>
      <p:sp>
        <p:nvSpPr>
          <p:cNvPr id="217" name="Google Shape;217;p19"/>
          <p:cNvSpPr/>
          <p:nvPr/>
        </p:nvSpPr>
        <p:spPr>
          <a:xfrm>
            <a:off x="6634238" y="4007346"/>
            <a:ext cx="2295600" cy="400200"/>
          </a:xfrm>
          <a:prstGeom prst="rect">
            <a:avLst/>
          </a:prstGeom>
          <a:solidFill>
            <a:srgbClr val="0022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19"/>
          <p:cNvSpPr txBox="1"/>
          <p:nvPr/>
        </p:nvSpPr>
        <p:spPr>
          <a:xfrm>
            <a:off x="6676788" y="3678733"/>
            <a:ext cx="22104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CCFFCC"/>
                </a:solidFill>
                <a:latin typeface="VT323"/>
                <a:ea typeface="VT323"/>
                <a:cs typeface="VT323"/>
                <a:sym typeface="VT323"/>
              </a:rPr>
              <a:t>Salida Controlada</a:t>
            </a:r>
            <a:endParaRPr/>
          </a:p>
        </p:txBody>
      </p:sp>
      <p:sp>
        <p:nvSpPr>
          <p:cNvPr id="219" name="Google Shape;219;p19"/>
          <p:cNvSpPr txBox="1"/>
          <p:nvPr/>
        </p:nvSpPr>
        <p:spPr>
          <a:xfrm>
            <a:off x="6634250" y="4646733"/>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dirty="0" err="1">
                <a:solidFill>
                  <a:srgbClr val="CCFFCC"/>
                </a:solidFill>
                <a:latin typeface="VT323"/>
                <a:ea typeface="VT323"/>
                <a:cs typeface="VT323"/>
                <a:sym typeface="VT323"/>
              </a:rPr>
              <a:t>Presion</a:t>
            </a:r>
            <a:r>
              <a:rPr lang="en-US" sz="1950" dirty="0" err="1">
                <a:solidFill>
                  <a:srgbClr val="CCFFCC"/>
                </a:solidFill>
                <a:latin typeface="VT323"/>
                <a:ea typeface="VT323"/>
                <a:cs typeface="VT323"/>
                <a:sym typeface="VT323"/>
              </a:rPr>
              <a:t>a</a:t>
            </a:r>
            <a:r>
              <a:rPr lang="en-US" sz="1950" b="0" i="0" u="none" strike="noStrike" cap="none" dirty="0" err="1">
                <a:solidFill>
                  <a:srgbClr val="CCFFCC"/>
                </a:solidFill>
                <a:latin typeface="VT323"/>
                <a:ea typeface="VT323"/>
                <a:cs typeface="VT323"/>
                <a:sym typeface="VT323"/>
              </a:rPr>
              <a:t>r</a:t>
            </a:r>
            <a:r>
              <a:rPr lang="en-US" sz="1950" b="0" i="0" u="none" strike="noStrike" cap="none" dirty="0">
                <a:solidFill>
                  <a:srgbClr val="CCFFCC"/>
                </a:solidFill>
                <a:latin typeface="VT323"/>
                <a:ea typeface="VT323"/>
                <a:cs typeface="VT323"/>
                <a:sym typeface="VT323"/>
              </a:rPr>
              <a:t>      </a:t>
            </a:r>
            <a:r>
              <a:rPr lang="en-US" sz="1950" b="0" i="0" u="none" strike="noStrike" cap="none" dirty="0" err="1">
                <a:solidFill>
                  <a:srgbClr val="CCFFCC"/>
                </a:solidFill>
                <a:latin typeface="VT323"/>
                <a:ea typeface="VT323"/>
                <a:cs typeface="VT323"/>
                <a:sym typeface="VT323"/>
              </a:rPr>
              <a:t>en</a:t>
            </a:r>
            <a:r>
              <a:rPr lang="en-US" sz="1950" b="0" i="0" u="none" strike="noStrike" cap="none" dirty="0">
                <a:solidFill>
                  <a:srgbClr val="CCFFCC"/>
                </a:solidFill>
                <a:latin typeface="VT323"/>
                <a:ea typeface="VT323"/>
                <a:cs typeface="VT323"/>
                <a:sym typeface="VT323"/>
              </a:rPr>
              <a:t> </a:t>
            </a:r>
            <a:r>
              <a:rPr lang="en-US" sz="1950" b="0" i="0" u="none" strike="noStrike" cap="none" dirty="0" err="1">
                <a:solidFill>
                  <a:srgbClr val="CCFFCC"/>
                </a:solidFill>
                <a:latin typeface="VT323"/>
                <a:ea typeface="VT323"/>
                <a:cs typeface="VT323"/>
                <a:sym typeface="VT323"/>
              </a:rPr>
              <a:t>cualquier</a:t>
            </a:r>
            <a:r>
              <a:rPr lang="en-US" sz="1950" b="0" i="0" u="none" strike="noStrike" cap="none" dirty="0">
                <a:solidFill>
                  <a:srgbClr val="CCFFCC"/>
                </a:solidFill>
                <a:latin typeface="VT323"/>
                <a:ea typeface="VT323"/>
                <a:cs typeface="VT323"/>
                <a:sym typeface="VT323"/>
              </a:rPr>
              <a:t> </a:t>
            </a:r>
            <a:r>
              <a:rPr lang="en-US" sz="1950" b="0" i="0" u="none" strike="noStrike" cap="none" dirty="0" err="1">
                <a:solidFill>
                  <a:srgbClr val="CCFFCC"/>
                </a:solidFill>
                <a:latin typeface="VT323"/>
                <a:ea typeface="VT323"/>
                <a:cs typeface="VT323"/>
                <a:sym typeface="VT323"/>
              </a:rPr>
              <a:t>momento</a:t>
            </a:r>
            <a:r>
              <a:rPr lang="en-US" sz="1950" b="0" i="0" u="none" strike="noStrike" cap="none" dirty="0">
                <a:solidFill>
                  <a:srgbClr val="CCFFCC"/>
                </a:solidFill>
                <a:latin typeface="VT323"/>
                <a:ea typeface="VT323"/>
                <a:cs typeface="VT323"/>
                <a:sym typeface="VT323"/>
              </a:rPr>
              <a:t>:</a:t>
            </a:r>
            <a:endParaRPr dirty="0"/>
          </a:p>
        </p:txBody>
      </p:sp>
      <p:sp>
        <p:nvSpPr>
          <p:cNvPr id="220" name="Google Shape;220;p19"/>
          <p:cNvSpPr txBox="1"/>
          <p:nvPr/>
        </p:nvSpPr>
        <p:spPr>
          <a:xfrm>
            <a:off x="6634288" y="5168867"/>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dirty="0">
                <a:solidFill>
                  <a:srgbClr val="CCFFCC"/>
                </a:solidFill>
                <a:latin typeface="VT323"/>
                <a:ea typeface="VT323"/>
                <a:cs typeface="VT323"/>
                <a:sym typeface="VT323"/>
              </a:rPr>
              <a:t>1. (</a:t>
            </a:r>
            <a:r>
              <a:rPr lang="en-US" sz="1950" b="0" i="0" u="none" strike="noStrike" cap="none" dirty="0" err="1">
                <a:solidFill>
                  <a:srgbClr val="CCFFCC"/>
                </a:solidFill>
                <a:latin typeface="VT323"/>
                <a:ea typeface="VT323"/>
                <a:cs typeface="VT323"/>
                <a:sym typeface="VT323"/>
              </a:rPr>
              <a:t>Restaura</a:t>
            </a:r>
            <a:r>
              <a:rPr lang="en-US" sz="1950" b="0" i="0" u="none" strike="noStrike" cap="none" dirty="0">
                <a:solidFill>
                  <a:srgbClr val="CCFFCC"/>
                </a:solidFill>
                <a:latin typeface="VT323"/>
                <a:ea typeface="VT323"/>
                <a:cs typeface="VT323"/>
                <a:sym typeface="VT323"/>
              </a:rPr>
              <a:t> terminal).</a:t>
            </a:r>
            <a:endParaRPr dirty="0"/>
          </a:p>
        </p:txBody>
      </p:sp>
      <p:sp>
        <p:nvSpPr>
          <p:cNvPr id="221" name="Google Shape;221;p19"/>
          <p:cNvSpPr txBox="1"/>
          <p:nvPr/>
        </p:nvSpPr>
        <p:spPr>
          <a:xfrm>
            <a:off x="6438900" y="6015950"/>
            <a:ext cx="5038800" cy="3003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2. Imprime Score en consola.</a:t>
            </a:r>
            <a:endParaRPr/>
          </a:p>
        </p:txBody>
      </p:sp>
      <p:sp>
        <p:nvSpPr>
          <p:cNvPr id="222" name="Google Shape;222;p19"/>
          <p:cNvSpPr txBox="1"/>
          <p:nvPr/>
        </p:nvSpPr>
        <p:spPr>
          <a:xfrm>
            <a:off x="6438900" y="6899820"/>
            <a:ext cx="5038725" cy="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0" i="0" u="none" strike="noStrike" cap="none">
                <a:solidFill>
                  <a:srgbClr val="CCFFCC"/>
                </a:solidFill>
                <a:latin typeface="VT323"/>
                <a:ea typeface="VT323"/>
                <a:cs typeface="VT323"/>
                <a:sym typeface="VT323"/>
              </a:rPr>
              <a:t>3. .</a:t>
            </a:r>
            <a:endParaRPr/>
          </a:p>
        </p:txBody>
      </p:sp>
      <p:sp>
        <p:nvSpPr>
          <p:cNvPr id="223" name="Google Shape;223;p19"/>
          <p:cNvSpPr txBox="1"/>
          <p:nvPr/>
        </p:nvSpPr>
        <p:spPr>
          <a:xfrm>
            <a:off x="904875" y="2404467"/>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sp>
        <p:nvSpPr>
          <p:cNvPr id="224" name="Google Shape;224;p19"/>
          <p:cNvSpPr txBox="1"/>
          <p:nvPr/>
        </p:nvSpPr>
        <p:spPr>
          <a:xfrm>
            <a:off x="904875" y="2941587"/>
            <a:ext cx="95250" cy="34290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33FF00"/>
                </a:solidFill>
                <a:latin typeface="VT323"/>
                <a:ea typeface="VT323"/>
                <a:cs typeface="VT323"/>
                <a:sym typeface="VT323"/>
              </a:rPr>
              <a:t>&gt;</a:t>
            </a:r>
            <a:endParaRPr/>
          </a:p>
        </p:txBody>
      </p:sp>
      <p:pic>
        <p:nvPicPr>
          <p:cNvPr id="225" name="Google Shape;225;p19" descr="image.png"/>
          <p:cNvPicPr preferRelativeResize="0"/>
          <p:nvPr/>
        </p:nvPicPr>
        <p:blipFill rotWithShape="1">
          <a:blip r:embed="rId9">
            <a:alphaModFix/>
          </a:blip>
          <a:srcRect/>
          <a:stretch/>
        </p:blipFill>
        <p:spPr>
          <a:xfrm>
            <a:off x="382175" y="5102342"/>
            <a:ext cx="781050" cy="333375"/>
          </a:xfrm>
          <a:prstGeom prst="rect">
            <a:avLst/>
          </a:prstGeom>
          <a:noFill/>
          <a:ln>
            <a:noFill/>
          </a:ln>
        </p:spPr>
      </p:pic>
      <p:pic>
        <p:nvPicPr>
          <p:cNvPr id="226" name="Google Shape;226;p19" descr="image.png"/>
          <p:cNvPicPr preferRelativeResize="0"/>
          <p:nvPr/>
        </p:nvPicPr>
        <p:blipFill rotWithShape="1">
          <a:blip r:embed="rId10">
            <a:alphaModFix/>
          </a:blip>
          <a:srcRect/>
          <a:stretch/>
        </p:blipFill>
        <p:spPr>
          <a:xfrm>
            <a:off x="314325" y="5795258"/>
            <a:ext cx="514350" cy="333375"/>
          </a:xfrm>
          <a:prstGeom prst="rect">
            <a:avLst/>
          </a:prstGeom>
          <a:noFill/>
          <a:ln>
            <a:noFill/>
          </a:ln>
        </p:spPr>
      </p:pic>
      <p:pic>
        <p:nvPicPr>
          <p:cNvPr id="227" name="Google Shape;227;p19" descr="image.png"/>
          <p:cNvPicPr preferRelativeResize="0"/>
          <p:nvPr/>
        </p:nvPicPr>
        <p:blipFill rotWithShape="1">
          <a:blip r:embed="rId10">
            <a:alphaModFix/>
          </a:blip>
          <a:srcRect/>
          <a:stretch/>
        </p:blipFill>
        <p:spPr>
          <a:xfrm>
            <a:off x="7524875" y="4630183"/>
            <a:ext cx="514350" cy="333375"/>
          </a:xfrm>
          <a:prstGeom prst="rect">
            <a:avLst/>
          </a:prstGeom>
          <a:noFill/>
          <a:ln>
            <a:noFill/>
          </a:ln>
        </p:spPr>
      </p:pic>
      <p:pic>
        <p:nvPicPr>
          <p:cNvPr id="228" name="Google Shape;228;p19" descr="image.png"/>
          <p:cNvPicPr preferRelativeResize="0"/>
          <p:nvPr/>
        </p:nvPicPr>
        <p:blipFill rotWithShape="1">
          <a:blip r:embed="rId11">
            <a:alphaModFix/>
          </a:blip>
          <a:srcRect/>
          <a:stretch/>
        </p:blipFill>
        <p:spPr>
          <a:xfrm>
            <a:off x="6724775" y="5575879"/>
            <a:ext cx="2114550" cy="333375"/>
          </a:xfrm>
          <a:prstGeom prst="rect">
            <a:avLst/>
          </a:prstGeom>
          <a:noFill/>
          <a:ln>
            <a:noFill/>
          </a:ln>
        </p:spPr>
      </p:pic>
      <p:pic>
        <p:nvPicPr>
          <p:cNvPr id="229" name="Google Shape;229;p19" descr="image.png"/>
          <p:cNvPicPr preferRelativeResize="0"/>
          <p:nvPr/>
        </p:nvPicPr>
        <p:blipFill rotWithShape="1">
          <a:blip r:embed="rId12">
            <a:alphaModFix/>
          </a:blip>
          <a:srcRect/>
          <a:stretch/>
        </p:blipFill>
        <p:spPr>
          <a:xfrm>
            <a:off x="9338625" y="6017808"/>
            <a:ext cx="914400" cy="33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5" name="Google Shape;235;p20" descr="image.png"/>
          <p:cNvPicPr preferRelativeResize="0"/>
          <p:nvPr/>
        </p:nvPicPr>
        <p:blipFill rotWithShape="1">
          <a:blip r:embed="rId4">
            <a:alphaModFix/>
          </a:blip>
          <a:srcRect/>
          <a:stretch/>
        </p:blipFill>
        <p:spPr>
          <a:xfrm>
            <a:off x="4052887" y="3285083"/>
            <a:ext cx="4086225" cy="1809750"/>
          </a:xfrm>
          <a:prstGeom prst="rect">
            <a:avLst/>
          </a:prstGeom>
          <a:noFill/>
          <a:ln>
            <a:noFill/>
          </a:ln>
        </p:spPr>
      </p:pic>
      <p:sp>
        <p:nvSpPr>
          <p:cNvPr id="236" name="Google Shape;236;p20"/>
          <p:cNvSpPr txBox="1"/>
          <p:nvPr/>
        </p:nvSpPr>
        <p:spPr>
          <a:xfrm>
            <a:off x="257175" y="2237333"/>
            <a:ext cx="11677650" cy="6924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33FF00"/>
                </a:solidFill>
                <a:latin typeface="VT323"/>
                <a:ea typeface="VT323"/>
                <a:cs typeface="VT323"/>
                <a:sym typeface="VT323"/>
              </a:rPr>
              <a:t>GAME OVER</a:t>
            </a:r>
            <a:endParaRPr dirty="0"/>
          </a:p>
        </p:txBody>
      </p:sp>
      <p:sp>
        <p:nvSpPr>
          <p:cNvPr id="237" name="Google Shape;237;p20"/>
          <p:cNvSpPr txBox="1"/>
          <p:nvPr/>
        </p:nvSpPr>
        <p:spPr>
          <a:xfrm>
            <a:off x="6567487" y="4656683"/>
            <a:ext cx="1047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CCCCC"/>
                </a:solidFill>
                <a:latin typeface="Fira Code"/>
                <a:ea typeface="Fira Code"/>
                <a:cs typeface="Fira Code"/>
                <a:sym typeface="Fira Code"/>
              </a:rPr>
              <a:t>_</a:t>
            </a:r>
            <a:endParaRPr/>
          </a:p>
        </p:txBody>
      </p:sp>
      <p:pic>
        <p:nvPicPr>
          <p:cNvPr id="2052" name="Picture 4" descr="Cómo jugar a Snake: dominar un clásico">
            <a:extLst>
              <a:ext uri="{FF2B5EF4-FFF2-40B4-BE49-F238E27FC236}">
                <a16:creationId xmlns:a16="http://schemas.microsoft.com/office/drawing/2014/main" id="{B4AFFE75-3F42-C2A9-FB31-B75D5826FE16}"/>
              </a:ext>
            </a:extLst>
          </p:cNvPr>
          <p:cNvPicPr>
            <a:picLocks noChangeAspect="1" noChangeArrowheads="1"/>
          </p:cNvPicPr>
          <p:nvPr/>
        </p:nvPicPr>
        <p:blipFill rotWithShape="1">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l="2572" t="3071" r="3524" b="6453"/>
          <a:stretch>
            <a:fillRect/>
          </a:stretch>
        </p:blipFill>
        <p:spPr bwMode="auto">
          <a:xfrm>
            <a:off x="217939" y="164936"/>
            <a:ext cx="11716886" cy="6457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9741</TotalTime>
  <Words>365</Words>
  <Application>Microsoft Macintosh PowerPoint</Application>
  <PresentationFormat>Panorámica</PresentationFormat>
  <Paragraphs>53</Paragraphs>
  <Slides>7</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vt:i4>
      </vt:variant>
    </vt:vector>
  </HeadingPairs>
  <TitlesOfParts>
    <vt:vector size="14" baseType="lpstr">
      <vt:lpstr>VT323</vt:lpstr>
      <vt:lpstr>Courier New</vt:lpstr>
      <vt:lpstr>Arial</vt:lpstr>
      <vt:lpstr>Calibri</vt:lpstr>
      <vt:lpstr>Fira Code</vt:lpstr>
      <vt:lpstr>Aptos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SONNIA MARGORI CARVAJAL CORTEZ</cp:lastModifiedBy>
  <cp:revision>3</cp:revision>
  <dcterms:modified xsi:type="dcterms:W3CDTF">2025-12-21T23:02:27Z</dcterms:modified>
</cp:coreProperties>
</file>